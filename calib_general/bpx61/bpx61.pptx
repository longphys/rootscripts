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</p:sldIdLst>
  <p:sldSz cx="9906000" cy="6858000" type="A4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5B53-9824-40AD-A2DE-D8838CC2C77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5031-E079-48B6-8BC5-AF77D2A74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6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5B53-9824-40AD-A2DE-D8838CC2C77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5031-E079-48B6-8BC5-AF77D2A74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3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5B53-9824-40AD-A2DE-D8838CC2C77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5031-E079-48B6-8BC5-AF77D2A74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88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5B53-9824-40AD-A2DE-D8838CC2C77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5031-E079-48B6-8BC5-AF77D2A74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9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5B53-9824-40AD-A2DE-D8838CC2C77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5031-E079-48B6-8BC5-AF77D2A74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40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5B53-9824-40AD-A2DE-D8838CC2C77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5031-E079-48B6-8BC5-AF77D2A74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63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5B53-9824-40AD-A2DE-D8838CC2C77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5031-E079-48B6-8BC5-AF77D2A74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05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5B53-9824-40AD-A2DE-D8838CC2C77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5031-E079-48B6-8BC5-AF77D2A74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77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5B53-9824-40AD-A2DE-D8838CC2C77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5031-E079-48B6-8BC5-AF77D2A74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8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5B53-9824-40AD-A2DE-D8838CC2C77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5031-E079-48B6-8BC5-AF77D2A74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61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5B53-9824-40AD-A2DE-D8838CC2C77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5031-E079-48B6-8BC5-AF77D2A74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2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85B53-9824-40AD-A2DE-D8838CC2C77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55031-E079-48B6-8BC5-AF77D2A74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6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CCF9D4-580C-D5D8-FC81-A22332E74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" t="6857" r="8992"/>
          <a:stretch>
            <a:fillRect/>
          </a:stretch>
        </p:blipFill>
        <p:spPr>
          <a:xfrm>
            <a:off x="0" y="634259"/>
            <a:ext cx="9913494" cy="42406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91EE84-9805-D2F0-507E-B9BEB187C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55" y="5293359"/>
            <a:ext cx="1946069" cy="14860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BCB389-DC94-0120-CBA0-223BB9E1CA5B}"/>
              </a:ext>
            </a:extLst>
          </p:cNvPr>
          <p:cNvSpPr txBox="1"/>
          <p:nvPr/>
        </p:nvSpPr>
        <p:spPr>
          <a:xfrm>
            <a:off x="4953000" y="5270610"/>
            <a:ext cx="4866860" cy="1443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3" b="1" dirty="0">
                <a:latin typeface="Arial" panose="020B0604020202020204" pitchFamily="34" charset="0"/>
                <a:cs typeface="Arial" panose="020B0604020202020204" pitchFamily="34" charset="0"/>
              </a:rPr>
              <a:t>OSRAM BPX 61</a:t>
            </a:r>
          </a:p>
          <a:p>
            <a:pPr marL="232172" indent="-232172">
              <a:buFont typeface="Arial" panose="020B0604020202020204" pitchFamily="34" charset="0"/>
              <a:buChar char="•"/>
            </a:pPr>
            <a:r>
              <a:rPr lang="en-US" sz="1463" dirty="0">
                <a:latin typeface="Arial" panose="020B0604020202020204" pitchFamily="34" charset="0"/>
                <a:cs typeface="Arial" panose="020B0604020202020204" pitchFamily="34" charset="0"/>
              </a:rPr>
              <a:t>Thickness: 100 um</a:t>
            </a:r>
          </a:p>
          <a:p>
            <a:pPr marL="232172" indent="-232172">
              <a:buFont typeface="Arial" panose="020B0604020202020204" pitchFamily="34" charset="0"/>
              <a:buChar char="•"/>
            </a:pPr>
            <a:r>
              <a:rPr lang="en-US" sz="1463" dirty="0">
                <a:latin typeface="Arial" panose="020B0604020202020204" pitchFamily="34" charset="0"/>
                <a:cs typeface="Arial" panose="020B0604020202020204" pitchFamily="34" charset="0"/>
              </a:rPr>
              <a:t>Capacitance: 72 pF at 0 V, 20 pF at 7 V</a:t>
            </a:r>
          </a:p>
          <a:p>
            <a:pPr marL="232172" indent="-232172">
              <a:buFont typeface="Arial" panose="020B0604020202020204" pitchFamily="34" charset="0"/>
              <a:buChar char="•"/>
            </a:pPr>
            <a:r>
              <a:rPr lang="en-US" sz="1463" dirty="0">
                <a:latin typeface="Arial" panose="020B0604020202020204" pitchFamily="34" charset="0"/>
                <a:cs typeface="Arial" panose="020B0604020202020204" pitchFamily="34" charset="0"/>
              </a:rPr>
              <a:t>Dark current: 2 </a:t>
            </a:r>
            <a:r>
              <a:rPr lang="en-US" sz="1463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1463" dirty="0">
                <a:latin typeface="Arial" panose="020B0604020202020204" pitchFamily="34" charset="0"/>
                <a:cs typeface="Arial" panose="020B0604020202020204" pitchFamily="34" charset="0"/>
              </a:rPr>
              <a:t> at 10V</a:t>
            </a:r>
          </a:p>
          <a:p>
            <a:pPr marL="232172" indent="-232172">
              <a:buFont typeface="Arial" panose="020B0604020202020204" pitchFamily="34" charset="0"/>
              <a:buChar char="•"/>
            </a:pPr>
            <a:r>
              <a:rPr lang="en-US" sz="1463" dirty="0">
                <a:latin typeface="Arial" panose="020B0604020202020204" pitchFamily="34" charset="0"/>
                <a:cs typeface="Arial" panose="020B0604020202020204" pitchFamily="34" charset="0"/>
              </a:rPr>
              <a:t>Silicon → Fano: 0.11, energy/pair: 3.62 eV</a:t>
            </a:r>
          </a:p>
          <a:p>
            <a:pPr marL="232172" indent="-232172">
              <a:buFont typeface="Arial" panose="020B0604020202020204" pitchFamily="34" charset="0"/>
              <a:buChar char="•"/>
            </a:pPr>
            <a:r>
              <a:rPr lang="en-US" sz="1463" dirty="0">
                <a:latin typeface="Arial" panose="020B0604020202020204" pitchFamily="34" charset="0"/>
                <a:cs typeface="Arial" panose="020B0604020202020204" pitchFamily="34" charset="0"/>
              </a:rPr>
              <a:t>We use 6.7 V</a:t>
            </a:r>
          </a:p>
        </p:txBody>
      </p:sp>
    </p:spTree>
    <p:extLst>
      <p:ext uri="{BB962C8B-B14F-4D97-AF65-F5344CB8AC3E}">
        <p14:creationId xmlns:p14="http://schemas.microsoft.com/office/powerpoint/2010/main" val="520081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6F1E1-417C-E8CE-8D65-DF2B38387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2B6C0-5CE3-17BA-0D1E-448E85FDA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" r="3029"/>
          <a:stretch>
            <a:fillRect/>
          </a:stretch>
        </p:blipFill>
        <p:spPr>
          <a:xfrm>
            <a:off x="96906" y="642938"/>
            <a:ext cx="5050211" cy="39986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27E60D-397F-7C12-B7B8-572479C8F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8" r="4899"/>
          <a:stretch>
            <a:fillRect/>
          </a:stretch>
        </p:blipFill>
        <p:spPr>
          <a:xfrm>
            <a:off x="5254487" y="642938"/>
            <a:ext cx="4554607" cy="39986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D95073-1E87-7C5F-2A27-F503C34FC7AF}"/>
              </a:ext>
            </a:extLst>
          </p:cNvPr>
          <p:cNvSpPr txBox="1"/>
          <p:nvPr/>
        </p:nvSpPr>
        <p:spPr>
          <a:xfrm>
            <a:off x="280256" y="4641594"/>
            <a:ext cx="6836161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Relative FWHM = sqrt(F)/sqrt(ionizations) = sqrt(F*w)/sqrt(E)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So Relative FWHM is ~1/sqrt(E) 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(right figure)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Absolute FWHM = Relative FWHM*E = sqrt(F*w*E).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So Absolute FWHM should be ~sqrt(E) but it is not 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(left figure)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78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27263C-89AA-4109-078E-501244E71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7"/>
          <a:stretch>
            <a:fillRect/>
          </a:stretch>
        </p:blipFill>
        <p:spPr>
          <a:xfrm>
            <a:off x="0" y="0"/>
            <a:ext cx="9901881" cy="441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69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F49113-69C2-84CE-6710-DC6BD335A1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2" b="52657"/>
          <a:stretch>
            <a:fillRect/>
          </a:stretch>
        </p:blipFill>
        <p:spPr>
          <a:xfrm>
            <a:off x="134339" y="132522"/>
            <a:ext cx="6822795" cy="4210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61AF94-4C86-D833-DB00-1BFB0A4AA3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94"/>
          <a:stretch>
            <a:fillRect/>
          </a:stretch>
        </p:blipFill>
        <p:spPr>
          <a:xfrm>
            <a:off x="6865736" y="132522"/>
            <a:ext cx="2948866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835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125</TotalTime>
  <Words>114</Words>
  <Application>Microsoft Office PowerPoint</Application>
  <PresentationFormat>A4 Paper (210x297 mm)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Long Phan</dc:creator>
  <cp:lastModifiedBy>Long Phan</cp:lastModifiedBy>
  <cp:revision>8</cp:revision>
  <cp:lastPrinted>2026-01-22T11:53:08Z</cp:lastPrinted>
  <dcterms:created xsi:type="dcterms:W3CDTF">2026-01-22T08:10:12Z</dcterms:created>
  <dcterms:modified xsi:type="dcterms:W3CDTF">2026-01-22T12:38:45Z</dcterms:modified>
</cp:coreProperties>
</file>